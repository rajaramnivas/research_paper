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9" r:id="rId12"/>
    <p:sldId id="270" r:id="rId13"/>
    <p:sldId id="266" r:id="rId14"/>
    <p:sldId id="267" r:id="rId15"/>
    <p:sldId id="268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8lLYAQcE3vB3x4hfwJIDUbO+c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BBA4A4-BD63-486F-B13F-628654F3214C}">
  <a:tblStyle styleId="{A5BBA4A4-BD63-486F-B13F-628654F3214C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472C4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472C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7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58576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27813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 March 2025</a:t>
            </a:r>
            <a:endParaRPr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138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51070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2029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8050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72829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2336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3686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5453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1014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12279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3916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4183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3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3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921"/>
                </a:srgbClr>
              </a:gs>
              <a:gs pos="100000">
                <a:srgbClr val="00E9F7">
                  <a:alpha val="54117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3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019"/>
                </a:srgbClr>
              </a:gs>
              <a:gs pos="80000">
                <a:srgbClr val="0099E4">
                  <a:alpha val="43921"/>
                </a:srgbClr>
              </a:gs>
              <a:gs pos="100000">
                <a:srgbClr val="0099E4">
                  <a:alpha val="4392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3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0844-022-00768-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80000" flip="none" algn="tl"/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/>
        </p:nvSpPr>
        <p:spPr>
          <a:xfrm>
            <a:off x="3265156" y="6091"/>
            <a:ext cx="61080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KONGU ENGINEERING COLLEGE</a:t>
            </a:r>
            <a:r>
              <a:rPr lang="en-US" sz="2400" b="1" i="0" u="none" strike="noStrike" cap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4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5463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PERUNDURAI ERODE-638060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APPLICATIONS</a:t>
            </a:r>
            <a:endParaRPr sz="2800" b="1" i="0" u="none" strike="noStrike" cap="none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391" y="52744"/>
            <a:ext cx="1259632" cy="1517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 descr="G:\TBI\TBI@KEC Logos\K Transform\6-5x4 product centr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51258" y="1247244"/>
            <a:ext cx="1713898" cy="149046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2408207" y="2661803"/>
            <a:ext cx="80151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text classification accuracy using machine learning </a:t>
            </a:r>
            <a:r>
              <a:rPr lang="en-US" sz="2400" b="0" i="0" u="none" strike="noStrike" cap="none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Deep Learning algorithms</a:t>
            </a:r>
            <a:endParaRPr sz="24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373372" y="4336261"/>
            <a:ext cx="44721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Guide: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Ms.Dr.K.CHITRA MCA.,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948156" y="3872859"/>
            <a:ext cx="63321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 :</a:t>
            </a: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  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Rajaram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S(24MCR080)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                       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Sachin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S(24MCR084)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                       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Sangeetha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 (24MCR089)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                                                  </a:t>
            </a:r>
            <a:endParaRPr sz="2400" b="0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438849" y="5719994"/>
            <a:ext cx="32190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number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10-Mar-25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098999" y="619725"/>
            <a:ext cx="10436086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02068" y="2073070"/>
            <a:ext cx="110299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098985" y="1597037"/>
            <a:ext cx="10436100" cy="51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>
              <a:lnSpc>
                <a:spcPct val="150000"/>
              </a:lnSpc>
              <a:spcBef>
                <a:spcPts val="600"/>
              </a:spcBef>
              <a:buClr>
                <a:srgbClr val="11181C"/>
              </a:buClr>
              <a:buSzPts val="1800"/>
              <a:buFont typeface="Times New Roman"/>
              <a:buChar char="⮚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compares machine learning and deep learning techniques for multi-class text classification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42900" algn="just">
              <a:lnSpc>
                <a:spcPct val="150000"/>
              </a:lnSpc>
              <a:spcBef>
                <a:spcPts val="600"/>
              </a:spcBef>
              <a:buClr>
                <a:srgbClr val="11181C"/>
              </a:buClr>
              <a:buSzPts val="1800"/>
              <a:buFont typeface="Times New Roman"/>
              <a:buChar char="⮚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extends beyond the base paper (which used CNN and LSTM for binary tasks like spam and sentiment analysis) by classifying text into five categories: Politics, Business, Tech, Entertainment, and Sports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42900" algn="just">
              <a:lnSpc>
                <a:spcPct val="150000"/>
              </a:lnSpc>
              <a:spcBef>
                <a:spcPts val="600"/>
              </a:spcBef>
              <a:buClr>
                <a:srgbClr val="11181C"/>
              </a:buClr>
              <a:buSzPts val="1800"/>
              <a:buFont typeface="Times New Roman"/>
              <a:buChar char="⮚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 include Random Forest, Support Vector Machine (SVM), and Feedforward Neural Network (FNN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lvl="0" indent="-342900" algn="just">
              <a:lnSpc>
                <a:spcPct val="150000"/>
              </a:lnSpc>
              <a:spcBef>
                <a:spcPts val="600"/>
              </a:spcBef>
              <a:buClr>
                <a:srgbClr val="11181C"/>
              </a:buClr>
              <a:buSzPts val="1800"/>
              <a:buFont typeface="Times New Roman"/>
              <a:buChar char="⮚"/>
            </a:pP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steps such as tokenization,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removal, and vectorization were applied to prepare the text data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42900" algn="just">
              <a:lnSpc>
                <a:spcPct val="150000"/>
              </a:lnSpc>
              <a:spcBef>
                <a:spcPts val="600"/>
              </a:spcBef>
              <a:buClr>
                <a:srgbClr val="11181C"/>
              </a:buClr>
              <a:buSzPts val="1800"/>
              <a:buFont typeface="Times New Roman"/>
              <a:buChar char="⮚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was evaluated using metrics like accuracy, precision, recall, and F1-score to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effectiveness.</a:t>
            </a:r>
            <a:endParaRPr sz="1800" i="0" u="none" strike="noStrike" cap="none" dirty="0">
              <a:solidFill>
                <a:srgbClr val="11181C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marR="0" lvl="0" indent="0" algn="just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976120" y="432851"/>
            <a:ext cx="109728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body" idx="1"/>
          </p:nvPr>
        </p:nvSpPr>
        <p:spPr>
          <a:xfrm>
            <a:off x="1281609" y="1175951"/>
            <a:ext cx="10042800" cy="51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sz="1800" b="1" dirty="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342900" algn="just">
              <a:lnSpc>
                <a:spcPct val="150000"/>
              </a:lnSpc>
              <a:spcBef>
                <a:spcPts val="1000"/>
              </a:spcBef>
              <a:buSzPts val="1800"/>
              <a:buFont typeface="Arial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 online textual content requires effective automatic classification for better organization and retrieval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42900" algn="just">
              <a:lnSpc>
                <a:spcPct val="150000"/>
              </a:lnSpc>
              <a:spcBef>
                <a:spcPts val="1000"/>
              </a:spcBef>
              <a:buSzPts val="1800"/>
              <a:buFont typeface="Arial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research targets binary classification tasks like spam detection and sentiment analysis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42900" algn="just">
              <a:lnSpc>
                <a:spcPct val="150000"/>
              </a:lnSpc>
              <a:spcBef>
                <a:spcPts val="1000"/>
              </a:spcBef>
              <a:buSzPts val="1800"/>
              <a:buFont typeface="Arial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There's a gap in research focused on multi-class text classification across domains like politics, business, tech, entertainment, and sports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42900" algn="just">
              <a:lnSpc>
                <a:spcPct val="150000"/>
              </a:lnSpc>
              <a:spcBef>
                <a:spcPts val="1000"/>
              </a:spcBef>
              <a:buSzPts val="1800"/>
              <a:buFont typeface="Arial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like CNN and LSTM perform well but are computationally intensive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42900" algn="just">
              <a:lnSpc>
                <a:spcPct val="150000"/>
              </a:lnSpc>
              <a:spcBef>
                <a:spcPts val="1000"/>
              </a:spcBef>
              <a:buSzPts val="1800"/>
              <a:buFont typeface="Arial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both traditional (Random Forest, SVM) and deep learning (Feedforward Neural Network) models on a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-sourced dataset to address multi-class classification.</a:t>
            </a:r>
            <a:endParaRPr sz="1800" b="1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3"/>
          <p:cNvSpPr txBox="1">
            <a:spLocks noGrp="1"/>
          </p:cNvSpPr>
          <p:nvPr>
            <p:ph type="dt" idx="10"/>
          </p:nvPr>
        </p:nvSpPr>
        <p:spPr>
          <a:xfrm>
            <a:off x="609600" y="638434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10-Mar-25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10-Mar-25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3802250" y="172625"/>
            <a:ext cx="5806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32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4" name="Google Shape;114;p4"/>
          <p:cNvGraphicFramePr/>
          <p:nvPr/>
        </p:nvGraphicFramePr>
        <p:xfrm>
          <a:off x="1647149" y="764442"/>
          <a:ext cx="9584250" cy="5919055"/>
        </p:xfrm>
        <a:graphic>
          <a:graphicData uri="http://schemas.openxmlformats.org/drawingml/2006/table">
            <a:tbl>
              <a:tblPr firstRow="1" bandRow="1">
                <a:noFill/>
                <a:tableStyleId>{A5BBA4A4-BD63-486F-B13F-628654F3214C}</a:tableStyleId>
              </a:tblPr>
              <a:tblGrid>
                <a:gridCol w="7088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263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153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9168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91685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737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S.no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Paper title and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author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Objective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Algorithm used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Future written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679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Analytics of machine learning-based algorithms for text classification.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Author: Sayar Ul Hassan, </a:t>
                      </a:r>
                      <a:r>
                        <a:rPr lang="en-US" sz="1400" u="none" strike="noStrike" cap="none"/>
                        <a:t>Jameel Ahamed, Khaleel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/>
                        <a:t>Ahmad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this paper, a comparative analysis of text classification is done in which the efficiency of different  Machine learning algorithm on different datasets is analyzed and compared.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Vector machine(SVM), k-Nearest Neighbor (k-NN), Logistic Regression (LR), Multinomial Naïve Bayes and Random Forest (RF)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the future, this research can be expanded to include more algorithms with hyperparameter tuning and ensemble approaches.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81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Efficient English text classification using selected Machine Learning Techniques.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Author : Xiaoyu Luo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In this paper, we implemented the Support Vector Machines (SVM) model in classifying English text and documents.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Vector machine(SVM), Naïve Bayes and Logistic regression.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In the future , they can also be implemented in R, Tensors flow, Python, or Matlab simulation tool.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07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Machine learning based approaches for detecting COVID-19 using clinical text data.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 : Akib Mohi Ud Din Khanday,Syed Tanzeel Rabani, Qamar Rayees Khan, Nusrat Rouf &amp; 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Masarat Mohi Ud Din.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this paper, we classified textual clinical reports into four classes by using classical and ensemble machine learning algorithms. Feature engineering was performed using techniques like Term frequency/inverse document frequency (TF/IDF), Bag of words (BOW) and report length.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forest, Gradient boosting, Naïve Bayes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future recurrent neural network can be used for better accuracy.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10-Mar-25</a:t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3802250" y="172625"/>
            <a:ext cx="5806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32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1" name="Google Shape;121;p5"/>
          <p:cNvGraphicFramePr/>
          <p:nvPr/>
        </p:nvGraphicFramePr>
        <p:xfrm>
          <a:off x="1622320" y="796413"/>
          <a:ext cx="9655250" cy="5531000"/>
        </p:xfrm>
        <a:graphic>
          <a:graphicData uri="http://schemas.openxmlformats.org/drawingml/2006/table">
            <a:tbl>
              <a:tblPr firstRow="1" bandRow="1">
                <a:noFill/>
                <a:tableStyleId>{A5BBA4A4-BD63-486F-B13F-628654F3214C}</a:tableStyleId>
              </a:tblPr>
              <a:tblGrid>
                <a:gridCol w="763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211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632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5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54155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098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S.no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Paper title and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author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Objective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Algorithm used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Future written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87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 effective ensemble deep learning framework for text classification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 : </a:t>
                      </a:r>
                      <a:r>
                        <a:rPr lang="en-US" sz="1400" u="none" strike="noStrike" cap="none"/>
                        <a:t>Ammar Mohammed</a:t>
                      </a: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 </a:t>
                      </a:r>
                      <a:r>
                        <a:rPr lang="en-US" sz="1400" u="none" strike="noStrike" cap="none"/>
                        <a:t>Rania Kora.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paper extends the results by comparing the performance of the proposed ensemble method to other state-of-the-art ensemble methods.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Convolutional Neural Network(CNN)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In future,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instead of using the predicted class label, the probability distributions for each class label of the baseline classifiers improve the proposed ensemble method’s meta-learners’ performance.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45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5.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Complete Process of Text Classification System Using State-of-the-Art NLP Models.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 : Varun Dogra, Sahil Verma, Kavita, Pushpita Chatterjee, Jana Shafi, Jaeyoung Choi.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paper summarizes several machine learning and deep learning algorithms used in text classification with their advantages and shortcomings.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/>
                        <a:t>Convolutional Neural Network(CNN) , Recurrent Neural Network(RNN).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the future that these deep neural networks will be applied efficiently in the automatic monitoring of web-based text data and classifying unseen data into automated labels.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1120668" y="-148906"/>
            <a:ext cx="109728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/>
          </a:p>
        </p:txBody>
      </p:sp>
      <p:sp>
        <p:nvSpPr>
          <p:cNvPr id="127" name="Google Shape;127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10-Mar-25</a:t>
            </a:r>
            <a:endParaRPr/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1"/>
          </p:nvPr>
        </p:nvSpPr>
        <p:spPr>
          <a:xfrm>
            <a:off x="1163325" y="1051250"/>
            <a:ext cx="105612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Title: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The Convolutional Neural Network Text Classification Algorithm in the Information Management of Smart Tourism Based on the Internet of Things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Author: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Lianchao Meng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Published Year: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2024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Algorithms Used: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Convolutional Neural Network (CNN),Bidirectional Long Short-Term Memory (BiLSTM),Text Convolutional Neural Network (TextCNN)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Objective: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This study aims to develop an efficient text classification model using CNN, BiLSTM, and TextCNN. It enhances sentiment analysis of tourist reviews with deep learning and IoT-driven data processing. The research compares CNN-based models to identify the best approach for automated text classification.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Evaluation Metrics: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Accuracy, precision, recall,F1 Score.</a:t>
            </a:r>
            <a:endParaRPr sz="1100"/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822586" y="1365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FF0000"/>
                </a:solidFill>
              </a:rPr>
              <a:t>SOLUTION STATEMENT</a:t>
            </a:r>
            <a:endParaRPr dirty="0"/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1"/>
          </p:nvPr>
        </p:nvSpPr>
        <p:spPr>
          <a:xfrm>
            <a:off x="1449100" y="1279525"/>
            <a:ext cx="10089600" cy="52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endParaRPr sz="1800" dirty="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lvl="0" indent="-273050" algn="just">
              <a:lnSpc>
                <a:spcPct val="150000"/>
              </a:lnSpc>
              <a:spcBef>
                <a:spcPts val="600"/>
              </a:spcBef>
              <a:buSzPts val="1800"/>
              <a:buFont typeface="Times New Roman"/>
              <a:buChar char="⮚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involves a pipeline for multi-class text classification using both machine learning and deep learning techniques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73050" lvl="0" indent="-273050" algn="just">
              <a:lnSpc>
                <a:spcPct val="150000"/>
              </a:lnSpc>
              <a:spcBef>
                <a:spcPts val="600"/>
              </a:spcBef>
              <a:buSzPts val="1800"/>
              <a:buFont typeface="Times New Roman"/>
              <a:buChar char="⮚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raw textual data, extract meaningful features, train various classification models, and evaluate their performance.</a:t>
            </a:r>
          </a:p>
          <a:p>
            <a:pPr marL="273050" lvl="0" indent="-273050" algn="just">
              <a:lnSpc>
                <a:spcPct val="150000"/>
              </a:lnSpc>
              <a:spcBef>
                <a:spcPts val="600"/>
              </a:spcBef>
              <a:buSzPts val="1800"/>
              <a:buFont typeface="Times New Roman"/>
              <a:buChar char="⮚"/>
            </a:pPr>
            <a:r>
              <a:rPr lang="en-US" sz="1800" dirty="0" smtClean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Multiple </a:t>
            </a:r>
            <a:r>
              <a:rPr lang="en-US" sz="1800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algorithms will be employed, </a:t>
            </a:r>
            <a:r>
              <a:rPr lang="en-US" sz="1800" dirty="0" smtClean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including Support </a:t>
            </a:r>
            <a:r>
              <a:rPr lang="en-US" sz="1800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Vector Machine, </a:t>
            </a:r>
            <a:r>
              <a:rPr lang="en-US" sz="1800" dirty="0" smtClean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r>
              <a:rPr lang="en-US" sz="1800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smtClean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and Feed Forward Neural Network.</a:t>
            </a:r>
            <a:endParaRPr sz="1800" dirty="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⮚"/>
            </a:pPr>
            <a:r>
              <a:rPr lang="en-US" sz="1800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Feature extraction techniques such as TF-IDF and Word </a:t>
            </a:r>
            <a:r>
              <a:rPr lang="en-US" sz="1800" dirty="0" err="1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Embeddings</a:t>
            </a:r>
            <a:r>
              <a:rPr lang="en-US" sz="1800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will optimize the text representation.</a:t>
            </a:r>
            <a:endParaRPr sz="1800" dirty="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10-Mar-25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41972" y="890727"/>
            <a:ext cx="28777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Dataset Description:</a:t>
            </a: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1855808" y="1693082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RECORDS: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 : 2225</a:t>
            </a:r>
          </a:p>
          <a:p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: 1780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testing data : 445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– Sports, Entertainment, Business, Tech, Politics.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30610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882716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rgbClr val="FF0000"/>
                </a:solidFill>
              </a:rPr>
              <a:t>Classification of Algorithms</a:t>
            </a:r>
            <a:r>
              <a:rPr lang="en-US"/>
              <a:t/>
            </a:r>
            <a:br>
              <a:rPr lang="en-US"/>
            </a:br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10-Mar-25</a:t>
            </a:r>
            <a:endParaRPr/>
          </a:p>
        </p:txBody>
      </p:sp>
      <p:sp>
        <p:nvSpPr>
          <p:cNvPr id="142" name="Google Shape;142;p8"/>
          <p:cNvSpPr txBox="1">
            <a:spLocks noGrp="1"/>
          </p:cNvSpPr>
          <p:nvPr>
            <p:ph type="body" idx="1"/>
          </p:nvPr>
        </p:nvSpPr>
        <p:spPr>
          <a:xfrm>
            <a:off x="1067629" y="982360"/>
            <a:ext cx="109728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1. Random Forest </a:t>
            </a:r>
            <a:endParaRPr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Combines multiple decision trees to improve accuracy.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Uses bagging (bootstrap aggregation) for robustness.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Handles imbalanced datasets well.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Suitable for classification and regression tasks.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18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Support Vector Machine</a:t>
            </a:r>
            <a:endParaRPr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342900" algn="just">
              <a:lnSpc>
                <a:spcPct val="150000"/>
              </a:lnSpc>
              <a:spcBef>
                <a:spcPts val="0"/>
              </a:spcBef>
              <a:buSzPts val="1800"/>
              <a:buFont typeface="Arial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the optimal hyperplane that best separates data points into classes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42900" algn="just">
              <a:lnSpc>
                <a:spcPct val="150000"/>
              </a:lnSpc>
              <a:spcBef>
                <a:spcPts val="0"/>
              </a:spcBef>
              <a:buSzPts val="1800"/>
              <a:buFont typeface="Arial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in high-dimensional spaces and with clear margin separation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42900" algn="just">
              <a:lnSpc>
                <a:spcPct val="150000"/>
              </a:lnSpc>
              <a:spcBef>
                <a:spcPts val="0"/>
              </a:spcBef>
              <a:buSzPts val="1800"/>
              <a:buFont typeface="Arial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for both linear and non-linear classification using kernel tricks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42900" algn="just">
              <a:lnSpc>
                <a:spcPct val="150000"/>
              </a:lnSpc>
              <a:spcBef>
                <a:spcPts val="0"/>
              </a:spcBef>
              <a:buSzPts val="1800"/>
              <a:buFont typeface="Arial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to overfitting, especially in low-sample, high-feature datasets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-342900" algn="just">
              <a:lnSpc>
                <a:spcPct val="150000"/>
              </a:lnSpc>
              <a:spcBef>
                <a:spcPts val="0"/>
              </a:spcBef>
              <a:buSzPts val="1800"/>
              <a:buFont typeface="Arial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classification and regression tasks (SVR).</a:t>
            </a:r>
          </a:p>
          <a:p>
            <a:pPr lvl="0" indent="-342900" algn="just">
              <a:lnSpc>
                <a:spcPct val="150000"/>
              </a:lnSpc>
              <a:spcBef>
                <a:spcPts val="0"/>
              </a:spcBef>
              <a:buSzPts val="1800"/>
              <a:buFont typeface="Arial"/>
              <a:buChar char="●"/>
            </a:pPr>
            <a:endParaRPr sz="1100" dirty="0"/>
          </a:p>
          <a:p>
            <a:pPr marL="273050" lvl="0" indent="-15113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</a:pPr>
            <a:endParaRPr sz="24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10-Mar-25</a:t>
            </a:r>
            <a:endParaRPr/>
          </a:p>
        </p:txBody>
      </p:sp>
      <p:sp>
        <p:nvSpPr>
          <p:cNvPr id="148" name="Google Shape;148;p9"/>
          <p:cNvSpPr txBox="1">
            <a:spLocks noGrp="1"/>
          </p:cNvSpPr>
          <p:nvPr>
            <p:ph type="body" idx="1"/>
          </p:nvPr>
        </p:nvSpPr>
        <p:spPr>
          <a:xfrm>
            <a:off x="1120088" y="814403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18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Feed Forward Neural Network </a:t>
            </a:r>
            <a:endParaRPr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342900" algn="just">
              <a:lnSpc>
                <a:spcPct val="150000"/>
              </a:lnSpc>
              <a:spcBef>
                <a:spcPts val="1200"/>
              </a:spcBef>
              <a:buSzPts val="1800"/>
              <a:buFont typeface="Arial"/>
              <a:buChar char="●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input, hidden, and output layers connected in one direction (no cycles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 indent="-342900" algn="just">
              <a:lnSpc>
                <a:spcPct val="150000"/>
              </a:lnSpc>
              <a:spcBef>
                <a:spcPts val="1200"/>
              </a:spcBef>
              <a:buSzPts val="1800"/>
              <a:buFont typeface="Arial"/>
              <a:buChar char="●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input data as flat vectors, learning complex non-linear patterns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42900" algn="just">
              <a:lnSpc>
                <a:spcPct val="150000"/>
              </a:lnSpc>
              <a:spcBef>
                <a:spcPts val="1200"/>
              </a:spcBef>
              <a:buSzPts val="1800"/>
              <a:buFont typeface="Arial"/>
              <a:buChar char="●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structured data and basic text classification tasks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42900" algn="just">
              <a:lnSpc>
                <a:spcPct val="150000"/>
              </a:lnSpc>
              <a:spcBef>
                <a:spcPts val="1200"/>
              </a:spcBef>
              <a:buSzPts val="1800"/>
              <a:buFont typeface="Arial"/>
              <a:buChar char="●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fixed-size input, typically after vectorization or embedding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42900" algn="just">
              <a:lnSpc>
                <a:spcPct val="150000"/>
              </a:lnSpc>
              <a:spcBef>
                <a:spcPts val="1200"/>
              </a:spcBef>
              <a:buSzPts val="1800"/>
              <a:buFont typeface="Arial"/>
              <a:buChar char="●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involves backpropagation and gradient descent to minimize error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</a:pPr>
            <a:endParaRPr sz="24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60711" y="737185"/>
            <a:ext cx="3339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Predicted Label (FNN):</a:t>
            </a:r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043" y="1198850"/>
            <a:ext cx="9287684" cy="530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33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78237" y="976032"/>
            <a:ext cx="33189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Result and Conclusion:</a:t>
            </a: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2116921" y="1763553"/>
            <a:ext cx="83320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829984" y="1763553"/>
            <a:ext cx="960001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 algn="just">
              <a:lnSpc>
                <a:spcPct val="150000"/>
              </a:lnSpc>
              <a:spcBef>
                <a:spcPts val="1200"/>
              </a:spcBef>
              <a:buSzPts val="1800"/>
              <a:buFont typeface="Arial"/>
              <a:buChar char="●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 was performed using both machine learning (Random Forest, SVM)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and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(Feedforward Neural Network) models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42900" algn="just">
              <a:lnSpc>
                <a:spcPct val="150000"/>
              </a:lnSpc>
              <a:spcBef>
                <a:spcPts val="1200"/>
              </a:spcBef>
              <a:buSzPts val="1800"/>
              <a:buFont typeface="Arial"/>
              <a:buChar char="●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base paper used CNN and LSTM and achieved an accuracy of 85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%.</a:t>
            </a:r>
          </a:p>
          <a:p>
            <a:pPr lvl="0" indent="-342900" algn="just">
              <a:lnSpc>
                <a:spcPct val="150000"/>
              </a:lnSpc>
              <a:spcBef>
                <a:spcPts val="1200"/>
              </a:spcBef>
              <a:buSzPts val="1800"/>
              <a:buFont typeface="Arial"/>
              <a:buChar char="●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models achieved higher accuracies: Random Forest and SVM – 96.98%, and FNN – 97.99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%.</a:t>
            </a:r>
          </a:p>
          <a:p>
            <a:pPr lvl="0" indent="-342900" algn="just">
              <a:lnSpc>
                <a:spcPct val="150000"/>
              </a:lnSpc>
              <a:spcBef>
                <a:spcPts val="1200"/>
              </a:spcBef>
              <a:buSzPts val="1800"/>
              <a:buFont typeface="Arial"/>
              <a:buChar char="●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Feedforward Neural Network outperformed all other models, showing its effectiveness for structured text data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42900" algn="just">
              <a:lnSpc>
                <a:spcPct val="150000"/>
              </a:lnSpc>
              <a:spcBef>
                <a:spcPts val="1200"/>
              </a:spcBef>
              <a:buSzPts val="1800"/>
              <a:buFont typeface="Arial"/>
              <a:buChar char="●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ML models and simple deep learning models can outperform complex architectures like CNN and LSTM when proper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feature extraction are applied.</a:t>
            </a:r>
          </a:p>
        </p:txBody>
      </p:sp>
    </p:spTree>
    <p:extLst>
      <p:ext uri="{BB962C8B-B14F-4D97-AF65-F5344CB8AC3E}">
        <p14:creationId xmlns:p14="http://schemas.microsoft.com/office/powerpoint/2010/main" val="2130522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10-Mar-25</a:t>
            </a:r>
            <a:endParaRPr/>
          </a:p>
        </p:txBody>
      </p:sp>
      <p:sp>
        <p:nvSpPr>
          <p:cNvPr id="160" name="Google Shape;160;p11"/>
          <p:cNvSpPr txBox="1"/>
          <p:nvPr/>
        </p:nvSpPr>
        <p:spPr>
          <a:xfrm>
            <a:off x="3381300" y="2595975"/>
            <a:ext cx="8810700" cy="3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endParaRPr sz="7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/>
          <p:nvPr/>
        </p:nvSpPr>
        <p:spPr>
          <a:xfrm>
            <a:off x="3793225" y="262175"/>
            <a:ext cx="4866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REFERENCE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1030625" y="1392877"/>
            <a:ext cx="10693800" cy="5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1)  A. Azaria et al, Medrec: Using blockchain for medical data access and permission management, 2016 2nd International Conference on Open and Big Data (OBD), IEEE, 2016.  </a:t>
            </a:r>
            <a:endParaRPr sz="18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2)  M. Sheshikala, D. Rajeswara Rao and R. Vijaya Prakash, Computation Analysis for Finding Co– Location Patterns using Map–Reduce Framework, Indian Journal of Science and Technology, Vol 10(8), DOI: 10.17485/ijst/2017/v10i8/106709, February 2017.</a:t>
            </a:r>
            <a:endParaRPr sz="18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3) M. Gupta, A. Bansal, B. Jain, J. Rochelle, A. Oak, M.S. Jalali, Whether the weather will help us weather the COVID-19 pandemic–Using machine learning to measure Twitter users’ perceptions, Int. J. Med. Inform. 145 (November 2020) (2021) 104340, doi:10.1016/j.ijmedinf.2020.104340.</a:t>
            </a:r>
            <a:endParaRPr sz="18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4) Rabby, G., Berka, P. Multi-class classiﬁcation of COVID-19 documents</a:t>
            </a:r>
            <a:endParaRPr sz="18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using machine learning algorithms. J Intell Inf Syst 60, 571–591 (2023).</a:t>
            </a:r>
            <a:endParaRPr sz="18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rgbClr val="1155C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https://doi.org/10.1007/s10844-022-00768-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5) Mengnan, W. Research on Text Classification Method Based on NLP. Adv. Comput. Signals Syst. 2022, 7, 93–100. [Google Scholar] [CrossRef]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10-Mar-25</a:t>
            </a:r>
            <a:endParaRPr/>
          </a:p>
        </p:txBody>
      </p:sp>
      <p:sp>
        <p:nvSpPr>
          <p:cNvPr id="168" name="Google Shape;168;p12"/>
          <p:cNvSpPr txBox="1"/>
          <p:nvPr/>
        </p:nvSpPr>
        <p:spPr>
          <a:xfrm>
            <a:off x="1561500" y="369625"/>
            <a:ext cx="9831000" cy="57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6) Reusens, M.; Stevens, A.; Tonglet, J.; De Smedt, J.; Verbeke, W.; Vanden Broucke, S.; Baesens, B. Evaluating text classification: A benchmark study. Expert Syst. Appl. 2024, 254, 124302. [Google Scholar] [CrossRef]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7) Dea, W.K. Research on Text Classification Based on Deep Neural Network. Int. J. Commun. Netw. Inf. Secur. 2022, 14, 100–113. [Google Scholar] [CrossRef]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8) C.K. Aridas, et al., Uncertainty based under-sampling for learning Naive Bayes classifiers under imbalanced data sets, IEEE Access. 8 (2020) 122–133.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9) S. Ruan, H. Li, C. Li, K. Song, Class-specific deep feature weighting for Naïve Bayes text classifiers, IEEE Access. 8 (2020) 20151–20159.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10) B.R. Rajakumar, Lion algorithm for standard and large scale bilinear system identification: a global optimization based on Lion’s social behavior, in: 2014 IEEE Congress on Evolutionary Computation (CEC), Beijing, 2014, pp.2116–2123.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11) Nikolentzos, G.; Tixier, A.; Vazirgiannis, M. Message Passing Attention Networks for Document Understanding. Proc. AAAI Conf. Artif. Intell. 2020, 34, 8544–8551. [Google Scholar] [CrossRef]</a:t>
            </a:r>
            <a:endParaRPr sz="18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12) Yung-Shen Lin, Jung-Yi Jiang, Shie-Jue Lee, A similarity measure for text</a:t>
            </a:r>
            <a:endParaRPr sz="18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classification and clustering, IEEE Trans. Knowl. Data Eng. 26 (July (7)) (2014)</a:t>
            </a:r>
            <a:endParaRPr sz="1800" b="0" i="0" u="none" strike="noStrike" cap="non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1575–1590.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10-Mar-25</a:t>
            </a:r>
            <a:endParaRPr/>
          </a:p>
        </p:txBody>
      </p:sp>
      <p:sp>
        <p:nvSpPr>
          <p:cNvPr id="174" name="Google Shape;174;p13"/>
          <p:cNvSpPr txBox="1"/>
          <p:nvPr/>
        </p:nvSpPr>
        <p:spPr>
          <a:xfrm>
            <a:off x="3381300" y="2595975"/>
            <a:ext cx="8810700" cy="3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7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1624</Words>
  <Application>Microsoft Office PowerPoint</Application>
  <PresentationFormat>Widescreen</PresentationFormat>
  <Paragraphs>176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Noto Sans Symbols</vt:lpstr>
      <vt:lpstr>Times New Roman</vt:lpstr>
      <vt:lpstr>Flow</vt:lpstr>
      <vt:lpstr>PowerPoint Presentation</vt:lpstr>
      <vt:lpstr>PowerPoint Presentation</vt:lpstr>
      <vt:lpstr>PROBLEM STATEMENT</vt:lpstr>
      <vt:lpstr>PowerPoint Presentation</vt:lpstr>
      <vt:lpstr>PowerPoint Presentation</vt:lpstr>
      <vt:lpstr>Literature Review</vt:lpstr>
      <vt:lpstr>SOLUTION STATEMENT</vt:lpstr>
      <vt:lpstr>PowerPoint Presentation</vt:lpstr>
      <vt:lpstr>Classification of Algorithms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Student</cp:lastModifiedBy>
  <cp:revision>7</cp:revision>
  <dcterms:modified xsi:type="dcterms:W3CDTF">2025-05-12T10:04:58Z</dcterms:modified>
</cp:coreProperties>
</file>